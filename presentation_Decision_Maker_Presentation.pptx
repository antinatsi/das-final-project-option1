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77" d="100"/>
          <a:sy n="77" d="100"/>
        </p:scale>
        <p:origin x="883" y="13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97280" y="1645920"/>
            <a:ext cx="9966960" cy="23031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93C5FD"/>
                </a:solidFill>
              </a:defRPr>
            </a:pPr>
            <a:r>
              <a:rPr dirty="0"/>
              <a:t>EXECUTIVE HEALTHCARE BRIEFING | LEAP </a:t>
            </a:r>
            <a:r>
              <a:rPr lang="en-US" dirty="0"/>
              <a:t>DAS </a:t>
            </a:r>
            <a:r>
              <a:rPr dirty="0"/>
              <a:t>FINAL PROJECT</a:t>
            </a:r>
          </a:p>
          <a:p>
            <a:pPr>
              <a:spcAft>
                <a:spcPts val="1400"/>
              </a:spcAft>
              <a:defRPr sz="3600" b="1">
                <a:solidFill>
                  <a:srgbClr val="FFFFFF"/>
                </a:solidFill>
              </a:defRPr>
            </a:pPr>
            <a:r>
              <a:rPr lang="en-US" dirty="0"/>
              <a:t>Understanding</a:t>
            </a:r>
            <a:r>
              <a:rPr dirty="0"/>
              <a:t> Diabetes Progression</a:t>
            </a:r>
            <a:endParaRPr lang="en-US" dirty="0"/>
          </a:p>
          <a:p>
            <a:pPr>
              <a:spcAft>
                <a:spcPts val="3600"/>
              </a:spcAft>
              <a:defRPr sz="1600">
                <a:solidFill>
                  <a:srgbClr val="CBD5E1"/>
                </a:solidFill>
              </a:defRPr>
            </a:pPr>
            <a:r>
              <a:rPr lang="en-US" dirty="0"/>
              <a:t>Key clinical patterns, multi-marker risk modeling, and operational insights from an observational cohort of 442 patients.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rPr dirty="0"/>
              <a:t>Target Audience: Healthcare Leadership &amp; Clinical Decision-Makers 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2B72BA"/>
                </a:solidFill>
              </a:defRPr>
            </a:pPr>
            <a:r>
              <a:t>BASELINE OBSERVATIONS &amp; RISK FACTORS</a:t>
            </a:r>
          </a:p>
          <a:p>
            <a:pPr>
              <a:defRPr sz="2200" b="1">
                <a:solidFill>
                  <a:srgbClr val="1A365D"/>
                </a:solidFill>
              </a:defRPr>
            </a:pPr>
            <a:r>
              <a:t>1. Core Clinical Patterns: What Drives Progression?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554480"/>
            <a:ext cx="3328416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60120" y="1783080"/>
            <a:ext cx="2871216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B72BA"/>
                </a:solidFill>
              </a:defRPr>
            </a:pPr>
            <a:r>
              <a:t>TOP PREDICTOR</a:t>
            </a:r>
          </a:p>
          <a:p>
            <a:pPr>
              <a:spcAft>
                <a:spcPts val="1400"/>
              </a:spcAft>
              <a:defRPr sz="1800" b="1">
                <a:solidFill>
                  <a:srgbClr val="1A365D"/>
                </a:solidFill>
              </a:defRPr>
            </a:pPr>
            <a:r>
              <a:t>Body Mass Index (BMI)</a:t>
            </a:r>
          </a:p>
          <a:p>
            <a:pPr>
              <a:spcAft>
                <a:spcPts val="1000"/>
              </a:spcAft>
              <a:defRPr sz="1400" b="1">
                <a:solidFill>
                  <a:srgbClr val="1E293B"/>
                </a:solidFill>
              </a:defRPr>
            </a:pPr>
            <a:r>
              <a:t>Correlation: r = +0.59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• Strongest single physical risk factor in the cohort.</a:t>
            </a:r>
            <a:br/>
            <a:br/>
            <a:r>
              <a:t>• Patients in the upper quartile (BMI &gt; 29.3) demonstrated accelerated progression within 12 months.</a:t>
            </a:r>
            <a:br/>
            <a:br/>
            <a:r>
              <a:t>• Serves as the primary baseline physical marker for screening.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25696" y="1554480"/>
            <a:ext cx="3328416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654296" y="1783080"/>
            <a:ext cx="2871216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B72BA"/>
                </a:solidFill>
              </a:defRPr>
            </a:pPr>
            <a:r>
              <a:t>SERUM BIOMARKER</a:t>
            </a:r>
          </a:p>
          <a:p>
            <a:pPr>
              <a:spcAft>
                <a:spcPts val="1400"/>
              </a:spcAft>
              <a:defRPr sz="1800" b="1">
                <a:solidFill>
                  <a:srgbClr val="1A365D"/>
                </a:solidFill>
              </a:defRPr>
            </a:pPr>
            <a:r>
              <a:t>Serum Triglycerides (S5)</a:t>
            </a:r>
          </a:p>
          <a:p>
            <a:pPr>
              <a:spcAft>
                <a:spcPts val="1000"/>
              </a:spcAft>
              <a:defRPr sz="1400" b="1">
                <a:solidFill>
                  <a:srgbClr val="1E293B"/>
                </a:solidFill>
              </a:defRPr>
            </a:pPr>
            <a:r>
              <a:t>Correlation: r = +0.57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• Serum lipid measure (log-triglycerides) shows almost equal predictive weight to BMI.</a:t>
            </a:r>
            <a:br/>
            <a:br/>
            <a:r>
              <a:t>• Indicates that internal metabolic lipid processing is as vital as observable body weight.</a:t>
            </a:r>
            <a:br/>
            <a:br/>
            <a:r>
              <a:t>• Standard lipid panels are essential alongside routine check-ups.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19872" y="1554480"/>
            <a:ext cx="3328416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348472" y="1783080"/>
            <a:ext cx="2871216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B72BA"/>
                </a:solidFill>
              </a:defRPr>
            </a:pPr>
            <a:r>
              <a:t>SECONDARY &amp; PROTECTIVE</a:t>
            </a:r>
          </a:p>
          <a:p>
            <a:pPr>
              <a:spcAft>
                <a:spcPts val="1400"/>
              </a:spcAft>
              <a:defRPr sz="1800" b="1">
                <a:solidFill>
                  <a:srgbClr val="1A365D"/>
                </a:solidFill>
              </a:defRPr>
            </a:pPr>
            <a:r>
              <a:t>Blood Pressure &amp; HDL</a:t>
            </a:r>
          </a:p>
          <a:p>
            <a:pPr>
              <a:spcAft>
                <a:spcPts val="1000"/>
              </a:spcAft>
              <a:defRPr sz="1300" b="1">
                <a:solidFill>
                  <a:srgbClr val="1E293B"/>
                </a:solidFill>
              </a:defRPr>
            </a:pPr>
            <a:r>
              <a:t>BP: r = +0.44 | HDL (s3): r = -0.39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• Blood pressure acts as an amplifying vascular co-factor (+0.44).</a:t>
            </a:r>
            <a:br/>
            <a:br/>
            <a:r>
              <a:t>• High-Density Lipoproteins (HDL / s3) show an inverse, protective correlation (-0.39).</a:t>
            </a:r>
            <a:br/>
            <a:br/>
            <a:r>
              <a:t>• Confirms diabetes progression is systemic across vascular &amp; lipid domains.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2B72BA"/>
                </a:solidFill>
              </a:defRPr>
            </a:pPr>
            <a:r>
              <a:t>STATISTICAL REGRESSION ANALYSIS</a:t>
            </a:r>
          </a:p>
          <a:p>
            <a:pPr>
              <a:defRPr sz="2200" b="1">
                <a:solidFill>
                  <a:srgbClr val="1A365D"/>
                </a:solidFill>
              </a:defRPr>
            </a:pPr>
            <a:r>
              <a:t>2. Multi-Marker Modeling: Why Single Metrics Fall Short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554480"/>
            <a:ext cx="512064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05840" y="1783080"/>
            <a:ext cx="45720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2B72BA"/>
                </a:solidFill>
              </a:defRPr>
            </a:pPr>
            <a:r>
              <a:t>MODEL COMPARISON SUMMARY</a:t>
            </a:r>
          </a:p>
          <a:p>
            <a:pPr>
              <a:spcAft>
                <a:spcPts val="1400"/>
              </a:spcAft>
              <a:defRPr sz="1800" b="1">
                <a:solidFill>
                  <a:srgbClr val="1A365D"/>
                </a:solidFill>
              </a:defRPr>
            </a:pPr>
            <a:r>
              <a:t>Single-Factor (BMI alone) vs. Multi-Marker</a:t>
            </a:r>
          </a:p>
          <a:p>
            <a:pPr>
              <a:defRPr sz="1300" b="1">
                <a:solidFill>
                  <a:srgbClr val="1E293B"/>
                </a:solidFill>
              </a:defRPr>
            </a:pPr>
            <a:r>
              <a:t>Single Metric: BMI Model</a:t>
            </a:r>
          </a:p>
          <a:p>
            <a:pPr>
              <a:spcAft>
                <a:spcPts val="1200"/>
              </a:spcAft>
              <a:defRPr sz="1200">
                <a:solidFill>
                  <a:srgbClr val="1E293B"/>
                </a:solidFill>
              </a:defRPr>
            </a:pPr>
            <a:r>
              <a:t>• Explains only 34.4% of variation (R² = 0.344).</a:t>
            </a:r>
            <a:br/>
            <a:r>
              <a:t>• Leaves 65.6% of patient disease progression unexplained.</a:t>
            </a:r>
          </a:p>
          <a:p>
            <a:pPr>
              <a:defRPr sz="1300" b="1">
                <a:solidFill>
                  <a:srgbClr val="1E293B"/>
                </a:solidFill>
              </a:defRPr>
            </a:pPr>
            <a:r>
              <a:t>Multi-Marker: BMI + BP + Serum Lipids (s5)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• Explains 48.0% of variation (R² = 0.480, Adj. R² = 0.477).</a:t>
            </a:r>
            <a:br/>
            <a:r>
              <a:t>• Standard prediction error drops from 62.5 to 55.8 points.</a:t>
            </a:r>
            <a:br/>
            <a:r>
              <a:t>• Multicollinearity checks confirm VIF &lt; 1.35 across all markers.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554480"/>
            <a:ext cx="5242255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92240" y="1783080"/>
            <a:ext cx="4693615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2B72BA"/>
                </a:solidFill>
              </a:defRPr>
            </a:pPr>
            <a:r>
              <a:t>COMBINED MODEL INTERPRETATION</a:t>
            </a:r>
          </a:p>
          <a:p>
            <a:pPr>
              <a:spcAft>
                <a:spcPts val="1400"/>
              </a:spcAft>
              <a:defRPr sz="1800" b="1">
                <a:solidFill>
                  <a:srgbClr val="1A365D"/>
                </a:solidFill>
              </a:defRPr>
            </a:pPr>
            <a:r>
              <a:t>Holding Other Variables Constant</a:t>
            </a:r>
          </a:p>
          <a:p>
            <a:pPr>
              <a:defRPr sz="1300" b="1">
                <a:solidFill>
                  <a:srgbClr val="1E293B"/>
                </a:solidFill>
              </a:defRPr>
            </a:pPr>
            <a:r>
              <a:t>1. Body Mass Index (+6.50 pts per unit, p &lt; 0.001)</a:t>
            </a:r>
          </a:p>
          <a:p>
            <a:pPr>
              <a:spcAft>
                <a:spcPts val="1000"/>
              </a:spcAft>
              <a:defRPr sz="1200">
                <a:solidFill>
                  <a:srgbClr val="1E293B"/>
                </a:solidFill>
              </a:defRPr>
            </a:pPr>
            <a:r>
              <a:t>Holding BP and lipids constant, each 1-unit increase in BMI adds 6.5 points to the 1-year progression index (95% CI: 5.1 to 7.9).</a:t>
            </a:r>
          </a:p>
          <a:p>
            <a:pPr>
              <a:defRPr sz="1300" b="1">
                <a:solidFill>
                  <a:srgbClr val="1E293B"/>
                </a:solidFill>
              </a:defRPr>
            </a:pPr>
            <a:r>
              <a:t>2. Blood Pressure (+0.90 pts per mmHg, p &lt; 0.001)</a:t>
            </a:r>
          </a:p>
          <a:p>
            <a:pPr>
              <a:spcAft>
                <a:spcPts val="1000"/>
              </a:spcAft>
              <a:defRPr sz="1200">
                <a:solidFill>
                  <a:srgbClr val="1E293B"/>
                </a:solidFill>
              </a:defRPr>
            </a:pPr>
            <a:r>
              <a:t>Modest per-unit slope, but clinically meaningful across hypertension tiers (a 20 mmHg increase adds ~18 progression points).</a:t>
            </a:r>
          </a:p>
          <a:p>
            <a:pPr>
              <a:defRPr sz="1300" b="1">
                <a:solidFill>
                  <a:srgbClr val="1E293B"/>
                </a:solidFill>
              </a:defRPr>
            </a:pPr>
            <a:r>
              <a:t>3. Serum Lipids s5 (+49.58 pts per unit, p &lt; 0.001)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Patients with elevated baseline triglycerides face dramatically elevated risk profiles independent of weight.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2B72BA"/>
                </a:solidFill>
              </a:defRPr>
            </a:pPr>
            <a:r>
              <a:t>TRANSLATING EVIDENCE INTO HEALTHCARE PROTOCOLS</a:t>
            </a:r>
          </a:p>
          <a:p>
            <a:pPr>
              <a:defRPr sz="2200" b="1">
                <a:solidFill>
                  <a:srgbClr val="1A365D"/>
                </a:solidFill>
              </a:defRPr>
            </a:pPr>
            <a:r>
              <a:t>3. Clinical Practice: Actionable Implementation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554480"/>
            <a:ext cx="3328416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60120" y="1783080"/>
            <a:ext cx="2871216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B72BA"/>
                </a:solidFill>
              </a:defRPr>
            </a:pPr>
            <a:r>
              <a:t>STRATEGY 1</a:t>
            </a:r>
          </a:p>
          <a:p>
            <a:pPr>
              <a:spcAft>
                <a:spcPts val="1400"/>
              </a:spcAft>
              <a:defRPr sz="1800" b="1">
                <a:solidFill>
                  <a:srgbClr val="1A365D"/>
                </a:solidFill>
              </a:defRPr>
            </a:pPr>
            <a:r>
              <a:t>Early Clinical Triage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• Establish a multi-marker screening checklist at intake.</a:t>
            </a:r>
            <a:br/>
            <a:br/>
            <a:r>
              <a:t>• Patients in the top risk tiers for both BMI (&gt;29) and Serum Lipids (s5 &gt; 5.0) should be prioritized for intensive monitoring.</a:t>
            </a:r>
            <a:br/>
            <a:br/>
            <a:r>
              <a:t>• Enables proactive allocation of clinical nursing and follow-up resources.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25696" y="1554480"/>
            <a:ext cx="3328416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654296" y="1783080"/>
            <a:ext cx="2871216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B72BA"/>
                </a:solidFill>
              </a:defRPr>
            </a:pPr>
            <a:r>
              <a:t>STRATEGY 2</a:t>
            </a:r>
          </a:p>
          <a:p>
            <a:pPr>
              <a:spcAft>
                <a:spcPts val="1400"/>
              </a:spcAft>
              <a:defRPr sz="1800" b="1">
                <a:solidFill>
                  <a:srgbClr val="1A365D"/>
                </a:solidFill>
              </a:defRPr>
            </a:pPr>
            <a:r>
              <a:t>Beyond Weight Loss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• Weight management alone leaves major metabolic risks unaddressed.</a:t>
            </a:r>
            <a:br/>
            <a:br/>
            <a:r>
              <a:t>• Co-prescribe lipid-lowering and blood pressure protocols alongside dietary counseling.</a:t>
            </a:r>
            <a:br/>
            <a:br/>
            <a:r>
              <a:t>• Multi-target management addresses the 3 strongest risk channels simultaneously.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19872" y="1554480"/>
            <a:ext cx="3328416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348472" y="1783080"/>
            <a:ext cx="2871216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B72BA"/>
                </a:solidFill>
              </a:defRPr>
            </a:pPr>
            <a:r>
              <a:t>STRATEGY 3</a:t>
            </a:r>
          </a:p>
          <a:p>
            <a:pPr>
              <a:spcAft>
                <a:spcPts val="1400"/>
              </a:spcAft>
              <a:defRPr sz="1800" b="1">
                <a:solidFill>
                  <a:srgbClr val="1A365D"/>
                </a:solidFill>
              </a:defRPr>
            </a:pPr>
            <a:r>
              <a:t>Standardize Lab Panels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• Serum lipid panels are cost-effective and provide high predictive ROI.</a:t>
            </a:r>
            <a:br/>
            <a:br/>
            <a:r>
              <a:t>• Incorporating fasting triglycerides into routine outpatient annual checkups improves predictive sensitivity without high diagnostic costs.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2B72BA"/>
                </a:solidFill>
              </a:defRPr>
            </a:pPr>
            <a:r>
              <a:t>STATISTICAL INTEGRITY &amp; RESPONSIBLE DATA USE</a:t>
            </a:r>
          </a:p>
          <a:p>
            <a:pPr>
              <a:defRPr sz="2200" b="1">
                <a:solidFill>
                  <a:srgbClr val="1A365D"/>
                </a:solidFill>
              </a:defRPr>
            </a:pPr>
            <a:r>
              <a:t>4. Governance: Limitations &amp; What NOT to Conclude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554480"/>
            <a:ext cx="512064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05840" y="1783080"/>
            <a:ext cx="45720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C53030"/>
                </a:solidFill>
              </a:defRPr>
            </a:pPr>
            <a:r>
              <a:t>STUDY DESIGN CONSTRAINTS</a:t>
            </a:r>
          </a:p>
          <a:p>
            <a:pPr>
              <a:spcAft>
                <a:spcPts val="1400"/>
              </a:spcAft>
              <a:defRPr sz="1800" b="1">
                <a:solidFill>
                  <a:srgbClr val="1A365D"/>
                </a:solidFill>
              </a:defRPr>
            </a:pPr>
            <a:r>
              <a:t>Key Analytical Limitations</a:t>
            </a:r>
          </a:p>
          <a:p>
            <a:pPr>
              <a:defRPr sz="1300" b="1">
                <a:solidFill>
                  <a:srgbClr val="1E293B"/>
                </a:solidFill>
              </a:defRPr>
            </a:pPr>
            <a:r>
              <a:t>1. Observational Design (No Randomized Trial)</a:t>
            </a:r>
          </a:p>
          <a:p>
            <a:pPr>
              <a:spcAft>
                <a:spcPts val="1000"/>
              </a:spcAft>
              <a:defRPr sz="1200">
                <a:solidFill>
                  <a:srgbClr val="1E293B"/>
                </a:solidFill>
              </a:defRPr>
            </a:pPr>
            <a:r>
              <a:t>Data reflects observed baseline associations. It cannot prove that medically modifying one factor will directly improve outcomes.</a:t>
            </a:r>
          </a:p>
          <a:p>
            <a:pPr>
              <a:defRPr sz="1300" b="1">
                <a:solidFill>
                  <a:srgbClr val="1E293B"/>
                </a:solidFill>
              </a:defRPr>
            </a:pPr>
            <a:r>
              <a:t>2. Unmeasured Clinical Confounders</a:t>
            </a:r>
          </a:p>
          <a:p>
            <a:pPr>
              <a:spcAft>
                <a:spcPts val="1000"/>
              </a:spcAft>
              <a:defRPr sz="1200">
                <a:solidFill>
                  <a:srgbClr val="1E293B"/>
                </a:solidFill>
              </a:defRPr>
            </a:pPr>
            <a:r>
              <a:t>Crucial variables are missing from the dataset: medication regimens (insulin/metformin), diet, exercise, and treatment adherence.</a:t>
            </a:r>
          </a:p>
          <a:p>
            <a:pPr>
              <a:defRPr sz="1300" b="1">
                <a:solidFill>
                  <a:srgbClr val="1E293B"/>
                </a:solidFill>
              </a:defRPr>
            </a:pPr>
            <a:r>
              <a:t>3. Substantial Individual Uncertainty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With 52% unexplained variance (residual SE = 55.8), predictions for individual patients carry wide error margins.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554480"/>
            <a:ext cx="5242255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92240" y="1783080"/>
            <a:ext cx="4693615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C53030"/>
                </a:solidFill>
              </a:defRPr>
            </a:pPr>
            <a:r>
              <a:t>DECISION BOUNDARIES</a:t>
            </a:r>
          </a:p>
          <a:p>
            <a:pPr>
              <a:spcAft>
                <a:spcPts val="1400"/>
              </a:spcAft>
              <a:defRPr sz="1800" b="1">
                <a:solidFill>
                  <a:srgbClr val="1A365D"/>
                </a:solidFill>
              </a:defRPr>
            </a:pPr>
            <a:r>
              <a:t>Claims That Go Beyond Evidence</a:t>
            </a:r>
          </a:p>
          <a:p>
            <a:pPr>
              <a:defRPr sz="1300" b="1">
                <a:solidFill>
                  <a:srgbClr val="C53030"/>
                </a:solidFill>
              </a:defRPr>
            </a:pPr>
            <a:r>
              <a:t>❌ DO NOT claim causal guarantees:</a:t>
            </a:r>
          </a:p>
          <a:p>
            <a:pPr>
              <a:spcAft>
                <a:spcPts val="1000"/>
              </a:spcAft>
              <a:defRPr sz="1200">
                <a:solidFill>
                  <a:srgbClr val="1E293B"/>
                </a:solidFill>
              </a:defRPr>
            </a:pPr>
            <a:r>
              <a:t>Do not state that 'reducing BMI by 1 kg/m² will reduce diabetes progression by 6.5 points.' Causality requires interventional trials.</a:t>
            </a:r>
          </a:p>
          <a:p>
            <a:pPr>
              <a:defRPr sz="1300" b="1">
                <a:solidFill>
                  <a:srgbClr val="C53030"/>
                </a:solidFill>
              </a:defRPr>
            </a:pPr>
            <a:r>
              <a:t>❌ DO NOT generalize to all patient groups:</a:t>
            </a:r>
          </a:p>
          <a:p>
            <a:pPr>
              <a:spcAft>
                <a:spcPts val="1000"/>
              </a:spcAft>
              <a:defRPr sz="1200">
                <a:solidFill>
                  <a:srgbClr val="1E293B"/>
                </a:solidFill>
              </a:defRPr>
            </a:pPr>
            <a:r>
              <a:t>This single cohort of 442 patients may not generalize to pediatric populations, diverse ethnicities, or advanced disease stages.</a:t>
            </a:r>
          </a:p>
          <a:p>
            <a:pPr>
              <a:defRPr sz="1300" b="1">
                <a:solidFill>
                  <a:srgbClr val="C53030"/>
                </a:solidFill>
              </a:defRPr>
            </a:pPr>
            <a:r>
              <a:t>❌ DO NOT replace clinical judgment: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Statistical scores guide population triage, but treatment plans must remain personalized by attending physicians.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792</Words>
  <Application>Microsoft Office PowerPoint</Application>
  <PresentationFormat>Ευρεία οθόνη</PresentationFormat>
  <Paragraphs>63</Paragraphs>
  <Slides>5</Slides>
  <Notes>0</Notes>
  <HiddenSlides>0</HiddenSlides>
  <MMClips>0</MMClips>
  <ScaleCrop>false</ScaleCrop>
  <HeadingPairs>
    <vt:vector size="6" baseType="variant">
      <vt:variant>
        <vt:lpstr>Γραμματοσειρές που χρησιμοποιούνται</vt:lpstr>
      </vt:variant>
      <vt:variant>
        <vt:i4>2</vt:i4>
      </vt:variant>
      <vt:variant>
        <vt:lpstr>Θέμα</vt:lpstr>
      </vt:variant>
      <vt:variant>
        <vt:i4>1</vt:i4>
      </vt:variant>
      <vt:variant>
        <vt:lpstr>Τίτλοι διαφανειών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Alexia Natsi</cp:lastModifiedBy>
  <cp:revision>2</cp:revision>
  <dcterms:created xsi:type="dcterms:W3CDTF">2013-01-27T09:14:16Z</dcterms:created>
  <dcterms:modified xsi:type="dcterms:W3CDTF">2026-10-26T20:48:18Z</dcterms:modified>
  <cp:category/>
</cp:coreProperties>
</file>